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j3DR/4bpNwJKYWH7cT7YhfIgro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5FE089-900A-4FA7-8D1E-BF31356F5E0E}">
  <a:tblStyle styleId="{8D5FE089-900A-4FA7-8D1E-BF31356F5E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11" Type="http://schemas.openxmlformats.org/officeDocument/2006/relationships/slide" Target="slides/slide5.xml"/><Relationship Id="rId22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21" Type="http://schemas.openxmlformats.org/officeDocument/2006/relationships/font" Target="fonts/Raleway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aleway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55120389e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855120389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55120389e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55120389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55120389e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55120389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55120389e_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855120389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55120389e_0_1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855120389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55120389e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55120389e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55120389e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55120389e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55120389e_0_5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855120389e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55120389e_0_3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855120389e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10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3773375" y="80700"/>
            <a:ext cx="52899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2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9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9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E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855120389e_0_4"/>
          <p:cNvPicPr preferRelativeResize="0"/>
          <p:nvPr/>
        </p:nvPicPr>
        <p:blipFill rotWithShape="1">
          <a:blip r:embed="rId3">
            <a:alphaModFix/>
          </a:blip>
          <a:srcRect b="4392" l="0" r="0" t="11468"/>
          <a:stretch/>
        </p:blipFill>
        <p:spPr>
          <a:xfrm>
            <a:off x="2191273" y="0"/>
            <a:ext cx="6952724" cy="492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855120389e_0_4"/>
          <p:cNvSpPr txBox="1"/>
          <p:nvPr>
            <p:ph idx="4294967295" type="ctrTitle"/>
          </p:nvPr>
        </p:nvSpPr>
        <p:spPr>
          <a:xfrm>
            <a:off x="234200" y="154375"/>
            <a:ext cx="81837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3600"/>
              <a:t>Sistema Web para la Gestión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3600"/>
              <a:t>y Rendición de Viáticos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3600"/>
              <a:t>en el SAG</a:t>
            </a:r>
            <a:endParaRPr sz="3600"/>
          </a:p>
        </p:txBody>
      </p:sp>
      <p:sp>
        <p:nvSpPr>
          <p:cNvPr id="60" name="Google Shape;60;g3855120389e_0_4"/>
          <p:cNvSpPr txBox="1"/>
          <p:nvPr>
            <p:ph idx="4294967295" type="subTitle"/>
          </p:nvPr>
        </p:nvSpPr>
        <p:spPr>
          <a:xfrm>
            <a:off x="234200" y="2078275"/>
            <a:ext cx="5648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2500">
                <a:latin typeface="Source Sans Pro"/>
                <a:ea typeface="Source Sans Pro"/>
                <a:cs typeface="Source Sans Pro"/>
                <a:sym typeface="Source Sans Pro"/>
              </a:rPr>
              <a:t>Presentación de Avance</a:t>
            </a:r>
            <a:endParaRPr sz="25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1" name="Google Shape;61;g3855120389e_0_4" title="Logo Duoc UC (Esuela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1397" y="4329256"/>
            <a:ext cx="3740877" cy="592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855120389e_0_4" title="LOGOSA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00" y="4278375"/>
            <a:ext cx="766499" cy="69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55120389e_0_23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855120389e_0_23"/>
          <p:cNvSpPr txBox="1"/>
          <p:nvPr>
            <p:ph idx="4294967295" type="title"/>
          </p:nvPr>
        </p:nvSpPr>
        <p:spPr>
          <a:xfrm>
            <a:off x="320250" y="157200"/>
            <a:ext cx="85206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s" sz="3200">
                <a:solidFill>
                  <a:srgbClr val="FDFDFE"/>
                </a:solidFill>
              </a:rPr>
              <a:t>Equipo de Trabajo</a:t>
            </a:r>
            <a:endParaRPr i="1" sz="3200">
              <a:solidFill>
                <a:srgbClr val="FDFDFE"/>
              </a:solidFill>
            </a:endParaRPr>
          </a:p>
        </p:txBody>
      </p:sp>
      <p:sp>
        <p:nvSpPr>
          <p:cNvPr id="69" name="Google Shape;69;g3855120389e_0_23"/>
          <p:cNvSpPr txBox="1"/>
          <p:nvPr>
            <p:ph idx="4294967295" type="title"/>
          </p:nvPr>
        </p:nvSpPr>
        <p:spPr>
          <a:xfrm>
            <a:off x="1139965" y="3411475"/>
            <a:ext cx="2681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</a:rPr>
              <a:t>Diego Sánchez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70" name="Google Shape;70;g3855120389e_0_23"/>
          <p:cNvSpPr txBox="1"/>
          <p:nvPr>
            <p:ph idx="4294967295" type="title"/>
          </p:nvPr>
        </p:nvSpPr>
        <p:spPr>
          <a:xfrm>
            <a:off x="4937713" y="3430200"/>
            <a:ext cx="32757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</a:rPr>
              <a:t>Joaquin Calderon 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71" name="Google Shape;71;g3855120389e_0_23"/>
          <p:cNvSpPr txBox="1"/>
          <p:nvPr>
            <p:ph idx="4294967295" type="body"/>
          </p:nvPr>
        </p:nvSpPr>
        <p:spPr>
          <a:xfrm>
            <a:off x="663888" y="3990175"/>
            <a:ext cx="3822300" cy="10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Sans Pro"/>
              <a:buChar char="●"/>
            </a:pPr>
            <a:r>
              <a:rPr lang="es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Líder de Proyecto</a:t>
            </a:r>
            <a:endParaRPr sz="15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Sans Pro"/>
              <a:buChar char="●"/>
            </a:pPr>
            <a:r>
              <a:rPr lang="es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Analista de Requisitos</a:t>
            </a:r>
            <a:endParaRPr sz="15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Sans Pro"/>
              <a:buChar char="●"/>
            </a:pPr>
            <a:r>
              <a:rPr lang="es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Diseñador de Interfaz de Usuario</a:t>
            </a:r>
            <a:endParaRPr sz="15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2" name="Google Shape;72;g3855120389e_0_23"/>
          <p:cNvSpPr txBox="1"/>
          <p:nvPr>
            <p:ph idx="4294967295" type="body"/>
          </p:nvPr>
        </p:nvSpPr>
        <p:spPr>
          <a:xfrm>
            <a:off x="4787588" y="4008900"/>
            <a:ext cx="3874800" cy="10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Sans Pro"/>
              <a:buChar char="●"/>
            </a:pPr>
            <a:r>
              <a:rPr lang="es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Desarrollador</a:t>
            </a:r>
            <a:endParaRPr sz="15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Sans Pro"/>
              <a:buChar char="●"/>
            </a:pPr>
            <a:r>
              <a:rPr lang="es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Administrador de base de datos</a:t>
            </a:r>
            <a:endParaRPr sz="15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Sans Pro"/>
              <a:buChar char="●"/>
            </a:pPr>
            <a:r>
              <a:rPr lang="es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Tester</a:t>
            </a:r>
            <a:endParaRPr sz="15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3" name="Google Shape;73;g3855120389e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275" y="908150"/>
            <a:ext cx="2484600" cy="248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855120389e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100" y="908150"/>
            <a:ext cx="2484599" cy="248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855120389e_0_261"/>
          <p:cNvPicPr preferRelativeResize="0"/>
          <p:nvPr/>
        </p:nvPicPr>
        <p:blipFill rotWithShape="1">
          <a:blip r:embed="rId3">
            <a:alphaModFix/>
          </a:blip>
          <a:srcRect b="0" l="7783" r="0" t="0"/>
          <a:stretch/>
        </p:blipFill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855120389e_0_261"/>
          <p:cNvSpPr txBox="1"/>
          <p:nvPr>
            <p:ph type="title"/>
          </p:nvPr>
        </p:nvSpPr>
        <p:spPr>
          <a:xfrm>
            <a:off x="490250" y="526350"/>
            <a:ext cx="8104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</a:t>
            </a:r>
            <a:r>
              <a:rPr lang="es"/>
              <a:t> </a:t>
            </a:r>
            <a:r>
              <a:rPr lang="es"/>
              <a:t>del Proyecto</a:t>
            </a:r>
            <a:endParaRPr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5120389e_0_113"/>
          <p:cNvSpPr txBox="1"/>
          <p:nvPr>
            <p:ph type="title"/>
          </p:nvPr>
        </p:nvSpPr>
        <p:spPr>
          <a:xfrm>
            <a:off x="154500" y="145475"/>
            <a:ext cx="8835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100"/>
              <a:t>Servicio Agrícola y Ganadero de Puerto Montt</a:t>
            </a:r>
            <a:endParaRPr sz="3100"/>
          </a:p>
        </p:txBody>
      </p:sp>
      <p:sp>
        <p:nvSpPr>
          <p:cNvPr id="86" name="Google Shape;86;g3855120389e_0_113"/>
          <p:cNvSpPr txBox="1"/>
          <p:nvPr>
            <p:ph idx="1" type="body"/>
          </p:nvPr>
        </p:nvSpPr>
        <p:spPr>
          <a:xfrm>
            <a:off x="154500" y="1049400"/>
            <a:ext cx="46740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s" sz="1700">
                <a:latin typeface="Source Sans Pro"/>
                <a:ea typeface="Source Sans Pro"/>
                <a:cs typeface="Source Sans Pro"/>
                <a:sym typeface="Source Sans Pro"/>
              </a:rPr>
              <a:t>Es una institución que protege la sanidad animal y vegetal, además de la inocuidad de los alimentos. 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rPr lang="es" sz="1700">
                <a:latin typeface="Source Sans Pro"/>
                <a:ea typeface="Source Sans Pro"/>
                <a:cs typeface="Source Sans Pro"/>
                <a:sym typeface="Source Sans Pro"/>
              </a:rPr>
              <a:t>En Puerto Montt, cumple un rol clave en el resguardo productivo y sanitario de la región sur.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87" name="Google Shape;87;g3855120389e_0_113" title="file_2024032411324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213" y="3132325"/>
            <a:ext cx="3328575" cy="18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855120389e_0_113" title="sa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3600" y="1180175"/>
            <a:ext cx="3827501" cy="38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855120389e_0_113" title="272979179_307965524688597_7899619229273674384_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75" y="3236451"/>
            <a:ext cx="1663025" cy="166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55120389e_0_183"/>
          <p:cNvSpPr/>
          <p:nvPr/>
        </p:nvSpPr>
        <p:spPr>
          <a:xfrm flipH="1" rot="10800000">
            <a:off x="4986500" y="3083050"/>
            <a:ext cx="3659400" cy="207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g3855120389e_0_183"/>
          <p:cNvSpPr/>
          <p:nvPr/>
        </p:nvSpPr>
        <p:spPr>
          <a:xfrm flipH="1" rot="10800000">
            <a:off x="318950" y="3568200"/>
            <a:ext cx="3864900" cy="1575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" name="Google Shape;96;g3855120389e_0_183" title="Gemini_Generated_Image_rn1t7arn1t7arn1t.png"/>
          <p:cNvPicPr preferRelativeResize="0"/>
          <p:nvPr/>
        </p:nvPicPr>
        <p:blipFill rotWithShape="1">
          <a:blip r:embed="rId3">
            <a:alphaModFix/>
          </a:blip>
          <a:srcRect b="12625" l="0" r="0" t="13240"/>
          <a:stretch/>
        </p:blipFill>
        <p:spPr>
          <a:xfrm>
            <a:off x="4986502" y="952500"/>
            <a:ext cx="3651538" cy="270687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855120389e_0_183"/>
          <p:cNvSpPr txBox="1"/>
          <p:nvPr>
            <p:ph idx="4294967295" type="body"/>
          </p:nvPr>
        </p:nvSpPr>
        <p:spPr>
          <a:xfrm>
            <a:off x="425600" y="3804075"/>
            <a:ext cx="36516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500">
                <a:solidFill>
                  <a:srgbClr val="FDFDF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proceso de rendición de viáticos en el SAG se realiza en planillas Excel y en papel, lo que genera sobrecarga administrativa y riesgo de errores.</a:t>
            </a:r>
            <a:endParaRPr sz="1500">
              <a:solidFill>
                <a:srgbClr val="FDFDFE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" name="Google Shape;98;g3855120389e_0_183"/>
          <p:cNvSpPr txBox="1"/>
          <p:nvPr>
            <p:ph idx="4294967295" type="body"/>
          </p:nvPr>
        </p:nvSpPr>
        <p:spPr>
          <a:xfrm>
            <a:off x="318925" y="236425"/>
            <a:ext cx="3864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" sz="28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Problemática</a:t>
            </a:r>
            <a:endParaRPr b="1" sz="28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9" name="Google Shape;99;g3855120389e_0_183" title="ChatGPT Image 31 ago 2025, 23_55_11.png"/>
          <p:cNvPicPr preferRelativeResize="0"/>
          <p:nvPr/>
        </p:nvPicPr>
        <p:blipFill rotWithShape="1">
          <a:blip r:embed="rId4">
            <a:alphaModFix/>
          </a:blip>
          <a:srcRect b="0" l="4816" r="0" t="0"/>
          <a:stretch/>
        </p:blipFill>
        <p:spPr>
          <a:xfrm>
            <a:off x="318962" y="952500"/>
            <a:ext cx="3864826" cy="270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855120389e_0_183"/>
          <p:cNvSpPr txBox="1"/>
          <p:nvPr>
            <p:ph idx="4294967295" type="body"/>
          </p:nvPr>
        </p:nvSpPr>
        <p:spPr>
          <a:xfrm>
            <a:off x="4986475" y="236425"/>
            <a:ext cx="365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" sz="28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Solución</a:t>
            </a:r>
            <a:endParaRPr b="1" sz="28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g3855120389e_0_183"/>
          <p:cNvSpPr txBox="1"/>
          <p:nvPr>
            <p:ph idx="4294967295" type="body"/>
          </p:nvPr>
        </p:nvSpPr>
        <p:spPr>
          <a:xfrm>
            <a:off x="5076200" y="3804075"/>
            <a:ext cx="34800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Desarrollar una aplicación web que digitalice y automatice la rendición de viáticos, agilizando la revisión y mejorando la trazabilidad.</a:t>
            </a:r>
            <a:endParaRPr sz="15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855120389e_0_324"/>
          <p:cNvPicPr preferRelativeResize="0"/>
          <p:nvPr/>
        </p:nvPicPr>
        <p:blipFill rotWithShape="1">
          <a:blip r:embed="rId3">
            <a:alphaModFix/>
          </a:blip>
          <a:srcRect b="2507" l="0" r="0" t="2507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855120389e_0_324"/>
          <p:cNvSpPr txBox="1"/>
          <p:nvPr>
            <p:ph type="title"/>
          </p:nvPr>
        </p:nvSpPr>
        <p:spPr>
          <a:xfrm>
            <a:off x="490250" y="526350"/>
            <a:ext cx="8104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Fundamentación </a:t>
            </a:r>
            <a:br>
              <a:rPr lang="es"/>
            </a:br>
            <a:r>
              <a:rPr lang="es"/>
              <a:t>del Proyecto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>
            <a:off x="0" y="0"/>
            <a:ext cx="4045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-51275" y="584775"/>
            <a:ext cx="40452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Objetivo General</a:t>
            </a:r>
            <a:endParaRPr b="1" sz="31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0" y="1481850"/>
            <a:ext cx="40452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31999" marR="431999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Desarrollar una aplicación web que facilite, optimice y digitalice el proceso de rendición de viáticos del SAG, mejorando la eficiencia, la trazabilidad y la experiencia de uso para los funcionarios.</a:t>
            </a:r>
            <a:endParaRPr sz="18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045200" y="1055075"/>
            <a:ext cx="5098800" cy="3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2949" lvl="0" marL="590400" marR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Identificar y documentar los requerimientos del sistema a través del trabajo conjunto con los actores involucrados del SAG.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2949" lvl="0" marL="590400" marR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Diseñar una solución tecnológica que considere usabilidad, accesibilidad y adaptabilidad a diferentes dispositivos.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2949" lvl="0" marL="590400" marR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Construir un prototipo funcional que integre las principales funcionalidades necesarias para la rendición de viáticos.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2949" lvl="0" marL="590400" marR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Validar el prototipo con los usuarios finales y levantar retroalimentación para mejoras.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2949" lvl="0" marL="590400" marR="36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Elaborar la documentación técnica y de usuario que permita la correcta comprensión y uso de la aplicación.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045200" y="0"/>
            <a:ext cx="50988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Objetivos Específicos</a:t>
            </a:r>
            <a:endParaRPr b="1" sz="3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265500" y="1678650"/>
            <a:ext cx="32661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s" sz="3600"/>
              <a:t>¿Por qué elegimos esta solución?</a:t>
            </a:r>
            <a:endParaRPr sz="3600"/>
          </a:p>
        </p:txBody>
      </p:sp>
      <p:sp>
        <p:nvSpPr>
          <p:cNvPr id="122" name="Google Shape;122;p3"/>
          <p:cNvSpPr txBox="1"/>
          <p:nvPr>
            <p:ph idx="2" type="body"/>
          </p:nvPr>
        </p:nvSpPr>
        <p:spPr>
          <a:xfrm>
            <a:off x="3971200" y="246175"/>
            <a:ext cx="4989600" cy="40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es" sz="1500">
                <a:latin typeface="Source Sans Pro"/>
                <a:ea typeface="Source Sans Pro"/>
                <a:cs typeface="Source Sans Pro"/>
                <a:sym typeface="Source Sans Pro"/>
              </a:rPr>
              <a:t>El alcance está claramente definido, reduciendo complejidades externas y riesgos innecesarios.</a:t>
            </a:r>
            <a:endParaRPr sz="15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es" sz="1500">
                <a:latin typeface="Source Sans Pro"/>
                <a:ea typeface="Source Sans Pro"/>
                <a:cs typeface="Source Sans Pro"/>
                <a:sym typeface="Source Sans Pro"/>
              </a:rPr>
              <a:t>Es factible dentro del tiempo y recursos disponibles.</a:t>
            </a:r>
            <a:endParaRPr sz="15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es" sz="1500">
                <a:latin typeface="Source Sans Pro"/>
                <a:ea typeface="Source Sans Pro"/>
                <a:cs typeface="Source Sans Pro"/>
                <a:sym typeface="Source Sans Pro"/>
              </a:rPr>
              <a:t>Contamos con un vínculo previo y favorable con el SAG, lo que facilita comunicación y acceso a información.</a:t>
            </a:r>
            <a:endParaRPr sz="15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es" sz="1500">
                <a:latin typeface="Source Sans Pro"/>
                <a:ea typeface="Source Sans Pro"/>
                <a:cs typeface="Source Sans Pro"/>
                <a:sym typeface="Source Sans Pro"/>
              </a:rPr>
              <a:t>Solo requiere herramientas de desarrollo estándar y acceso a internet, recursos totalmente disponibles.</a:t>
            </a:r>
            <a:endParaRPr sz="15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es" sz="1500">
                <a:latin typeface="Source Sans Pro"/>
                <a:ea typeface="Source Sans Pro"/>
                <a:cs typeface="Source Sans Pro"/>
                <a:sym typeface="Source Sans Pro"/>
              </a:rPr>
              <a:t>Está alineado con nuestras competencias profesionales como futuros Ingenieros Informáticos.</a:t>
            </a:r>
            <a:endParaRPr sz="15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es" sz="1500">
                <a:latin typeface="Source Sans Pro"/>
                <a:ea typeface="Source Sans Pro"/>
                <a:cs typeface="Source Sans Pro"/>
                <a:sym typeface="Source Sans Pro"/>
              </a:rPr>
              <a:t>Permite integrar conocimientos de gestión de proyectos, bases de datos, desarrollo web y seguridad.</a:t>
            </a:r>
            <a:endParaRPr sz="15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es" sz="1500">
                <a:latin typeface="Source Sans Pro"/>
                <a:ea typeface="Source Sans Pro"/>
                <a:cs typeface="Source Sans Pro"/>
                <a:sym typeface="Source Sans Pro"/>
              </a:rPr>
              <a:t>Representa una oportunidad real de aplicar buenas prácticas y metodologías propias del perfil de egreso.</a:t>
            </a:r>
            <a:endParaRPr sz="15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475600" y="218625"/>
            <a:ext cx="7664700" cy="16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4600"/>
              <a:t>Metodología de Trabajo </a:t>
            </a:r>
            <a:endParaRPr sz="4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800"/>
              <a:buNone/>
            </a:pPr>
            <a:r>
              <a:rPr i="1" lang="es" sz="2500"/>
              <a:t>Metodología SCRUM</a:t>
            </a:r>
            <a:endParaRPr sz="4900"/>
          </a:p>
        </p:txBody>
      </p:sp>
      <p:pic>
        <p:nvPicPr>
          <p:cNvPr id="128" name="Google Shape;12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00" y="1923625"/>
            <a:ext cx="7972349" cy="31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219800" y="2179700"/>
            <a:ext cx="20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Product Backlog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2271500" y="3994250"/>
            <a:ext cx="20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Sprint </a:t>
            </a:r>
            <a:r>
              <a:rPr b="1" lang="es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Backlog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4270275" y="3326025"/>
            <a:ext cx="20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Sprint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 Semana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4869600" y="2011550"/>
            <a:ext cx="20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Daily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Meeting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6534150" y="3604850"/>
            <a:ext cx="22362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Incrementos</a:t>
            </a:r>
            <a:r>
              <a:rPr b="1" lang="es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de Producto Terminado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55120389e_0_519"/>
          <p:cNvSpPr/>
          <p:nvPr/>
        </p:nvSpPr>
        <p:spPr>
          <a:xfrm>
            <a:off x="124550" y="80675"/>
            <a:ext cx="37539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855120389e_0_519"/>
          <p:cNvSpPr txBox="1"/>
          <p:nvPr>
            <p:ph type="title"/>
          </p:nvPr>
        </p:nvSpPr>
        <p:spPr>
          <a:xfrm>
            <a:off x="641425" y="21455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s" sz="3300">
                <a:solidFill>
                  <a:schemeClr val="lt1"/>
                </a:solidFill>
              </a:rPr>
              <a:t>C</a:t>
            </a:r>
            <a:r>
              <a:rPr lang="es" sz="3300">
                <a:solidFill>
                  <a:schemeClr val="lt1"/>
                </a:solidFill>
              </a:rPr>
              <a:t>ronograma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40" name="Google Shape;140;g3855120389e_0_519"/>
          <p:cNvSpPr txBox="1"/>
          <p:nvPr>
            <p:ph type="title"/>
          </p:nvPr>
        </p:nvSpPr>
        <p:spPr>
          <a:xfrm>
            <a:off x="4337500" y="514150"/>
            <a:ext cx="3753900" cy="962100"/>
          </a:xfrm>
          <a:prstGeom prst="rect">
            <a:avLst/>
          </a:prstGeom>
          <a:solidFill>
            <a:srgbClr val="4A86E8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s" sz="1900">
                <a:solidFill>
                  <a:srgbClr val="FAFAFA"/>
                </a:solidFill>
              </a:rPr>
              <a:t>Fecha de Inicio:</a:t>
            </a:r>
            <a:endParaRPr sz="1900">
              <a:solidFill>
                <a:srgbClr val="FAFAFA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AFAFA"/>
                </a:solidFill>
              </a:rPr>
              <a:t>11 agosto 2025</a:t>
            </a:r>
            <a:endParaRPr/>
          </a:p>
        </p:txBody>
      </p:sp>
      <p:cxnSp>
        <p:nvCxnSpPr>
          <p:cNvPr id="141" name="Google Shape;141;g3855120389e_0_519"/>
          <p:cNvCxnSpPr>
            <a:stCxn id="140" idx="2"/>
            <a:endCxn id="142" idx="0"/>
          </p:cNvCxnSpPr>
          <p:nvPr/>
        </p:nvCxnSpPr>
        <p:spPr>
          <a:xfrm>
            <a:off x="6214450" y="1476250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g3855120389e_0_519"/>
          <p:cNvSpPr txBox="1"/>
          <p:nvPr>
            <p:ph type="title"/>
          </p:nvPr>
        </p:nvSpPr>
        <p:spPr>
          <a:xfrm>
            <a:off x="4337500" y="2090676"/>
            <a:ext cx="3753900" cy="9621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s" sz="1900">
                <a:solidFill>
                  <a:srgbClr val="FAFAFA"/>
                </a:solidFill>
              </a:rPr>
              <a:t>Fecha de Finalización:</a:t>
            </a:r>
            <a:endParaRPr sz="1900">
              <a:solidFill>
                <a:srgbClr val="FAFAFA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AFAFA"/>
                </a:solidFill>
              </a:rPr>
              <a:t>10 noviembre 2025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43" name="Google Shape;143;g3855120389e_0_519"/>
          <p:cNvCxnSpPr>
            <a:stCxn id="142" idx="2"/>
            <a:endCxn id="144" idx="0"/>
          </p:cNvCxnSpPr>
          <p:nvPr/>
        </p:nvCxnSpPr>
        <p:spPr>
          <a:xfrm>
            <a:off x="6214450" y="3052776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g3855120389e_0_519"/>
          <p:cNvSpPr txBox="1"/>
          <p:nvPr>
            <p:ph type="title"/>
          </p:nvPr>
        </p:nvSpPr>
        <p:spPr>
          <a:xfrm>
            <a:off x="4337501" y="3667157"/>
            <a:ext cx="3753900" cy="962100"/>
          </a:xfrm>
          <a:prstGeom prst="rect">
            <a:avLst/>
          </a:prstGeom>
          <a:solidFill>
            <a:srgbClr val="FF9900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s" sz="2000">
                <a:solidFill>
                  <a:schemeClr val="lt1"/>
                </a:solidFill>
              </a:rPr>
              <a:t>Duración: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</a:rPr>
              <a:t>3 Meses </a:t>
            </a:r>
            <a:endParaRPr>
              <a:solidFill>
                <a:srgbClr val="FDFDF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g3855120389e_0_51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{8D5FE089-900A-4FA7-8D1E-BF31356F5E0E}</a:tableStyleId>
              </a:tblPr>
              <a:tblGrid>
                <a:gridCol w="2874650"/>
                <a:gridCol w="337150"/>
                <a:gridCol w="382850"/>
                <a:gridCol w="382850"/>
                <a:gridCol w="382850"/>
                <a:gridCol w="3371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37150"/>
                <a:gridCol w="382850"/>
              </a:tblGrid>
              <a:tr h="390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Actividad</a:t>
                      </a:r>
                      <a:endParaRPr b="1"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68575" marL="68575" anchor="ctr"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Fase 1</a:t>
                      </a:r>
                      <a:endParaRPr b="1"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68575" marL="68575" anchor="ctr"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0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Fase 2</a:t>
                      </a:r>
                      <a:endParaRPr b="1"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68575" marL="68575" anchor="ctr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Fase 3</a:t>
                      </a:r>
                      <a:endParaRPr b="1"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68575" marL="68575" anchor="ctr">
                    <a:solidFill>
                      <a:srgbClr val="FBE5D5"/>
                    </a:solidFill>
                  </a:tcPr>
                </a:tc>
                <a:tc hMerge="1"/>
              </a:tr>
              <a:tr h="25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Kickoff, Mapa de Actores y Visión (+ 4 pilares)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Impact Mapping, Épicas y priorización inicial del Backlog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Historias de Usuario, Criterios de Aceptación y User Story Mapping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Arquitectura del sistema, Modelo de datos y estrategia de seguridad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Sprint 1 – Fundacionales (repos, CI, autenticación/roles, base de datos)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Sprint 2 – Módulo de Rendición (UI básica, formularios, adjuntos)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Sprint 3 – Cálculos automáticos, PDF y compatibilidad Excel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Sprint 4 – Panel de administración y auditoría (historial de cambios)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7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Sprint 5 – Pruebas (unitarias/integración/usabilidad), performance y hardening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Sprint 6 – Documentación, demo y cierre</a:t>
                      </a:r>
                      <a:endParaRPr sz="11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BE5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55120389e_0_331"/>
          <p:cNvSpPr txBox="1"/>
          <p:nvPr>
            <p:ph type="title"/>
          </p:nvPr>
        </p:nvSpPr>
        <p:spPr>
          <a:xfrm>
            <a:off x="311700" y="479400"/>
            <a:ext cx="27354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000"/>
              <a:t>Gracias por </a:t>
            </a:r>
            <a:br>
              <a:rPr lang="es" sz="3000"/>
            </a:br>
            <a:r>
              <a:rPr lang="es" sz="3000"/>
              <a:t>su atención</a:t>
            </a:r>
            <a:endParaRPr sz="3000"/>
          </a:p>
        </p:txBody>
      </p:sp>
      <p:pic>
        <p:nvPicPr>
          <p:cNvPr id="155" name="Google Shape;155;g3855120389e_0_331"/>
          <p:cNvPicPr preferRelativeResize="0"/>
          <p:nvPr/>
        </p:nvPicPr>
        <p:blipFill rotWithShape="1">
          <a:blip r:embed="rId3">
            <a:alphaModFix/>
          </a:blip>
          <a:srcRect b="0" l="12194" r="13720" t="0"/>
          <a:stretch/>
        </p:blipFill>
        <p:spPr>
          <a:xfrm>
            <a:off x="3047211" y="0"/>
            <a:ext cx="60967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